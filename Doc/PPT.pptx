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88" r:id="rId4"/>
    <p:sldId id="289" r:id="rId5"/>
    <p:sldId id="293" r:id="rId6"/>
    <p:sldId id="294" r:id="rId7"/>
    <p:sldId id="292" r:id="rId8"/>
    <p:sldId id="285" r:id="rId9"/>
  </p:sldIdLst>
  <p:sldSz cx="24384000" cy="13716000"/>
  <p:notesSz cx="13716000" cy="2438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Li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FCAE0-0F47-45D7-A1FC-D5F43DF8DA98}" v="6" dt="2026-08-25T17:07:03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834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33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AF92-AC1A-88F1-F90A-5D4EF089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51EF6-0888-A818-CB63-749C1EFF7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450DA-1109-4AFE-C5D3-8D17DD14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8192-060D-4083-9195-9AA1FC5F1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4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5E1C-C082-93ED-3ECE-768EA976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DDDD6-4447-5110-D433-DC25E6A1E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35835-DBB8-7FB3-936C-04DC11222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A08B1-1729-C284-69CC-9640FEA45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64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0ECF-CC7A-9B70-AEC4-48BAE5A3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E0D18-CEB7-5E1F-0E15-91F0F7D4E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CA4E8-CFDB-D87B-D7E1-41D8AD258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641A4-8B74-508E-5EEC-241F6D928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9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244600" y="2936240"/>
            <a:ext cx="19718867" cy="784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RevGOV: AI-Powered Multilingual Revenue Services Platform</a:t>
            </a:r>
            <a:endParaRPr lang="en-US" sz="9600" b="1" dirty="0">
              <a:solidFill>
                <a:srgbClr val="1A1A1A"/>
              </a:solidFill>
            </a:endParaRPr>
          </a:p>
          <a:p>
            <a:pPr>
              <a:lnSpc>
                <a:spcPct val="120000"/>
              </a:lnSpc>
            </a:pP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4600" y="8637758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C07A3A-0104-95D4-DB67-CC1F608C9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8"/>
            <a:ext cx="3784600" cy="1521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080DDC-BB75-A69C-48B7-3B0E856B6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-1758"/>
            <a:ext cx="1602074" cy="14788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C0F5CA-0D23-15C8-EEF2-AA537C6C3082}"/>
              </a:ext>
            </a:extLst>
          </p:cNvPr>
          <p:cNvSpPr txBox="1"/>
          <p:nvPr/>
        </p:nvSpPr>
        <p:spPr>
          <a:xfrm>
            <a:off x="1244600" y="8283423"/>
            <a:ext cx="12192000" cy="375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 b="1" dirty="0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Mohit Oraon - 2721410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Mihika Saxena - 2825746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Vikrant Chakole - 3202415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Kunal Wandhare -3202420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1A1A1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95400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>
                <a:solidFill>
                  <a:srgbClr val="1A1A1A"/>
                </a:solidFill>
                <a:latin typeface="Liter" pitchFamily="34" charset="0"/>
              </a:rPr>
              <a:t>Problem Statement</a:t>
            </a:r>
            <a:endParaRPr lang="en-US" sz="5600"/>
          </a:p>
        </p:txBody>
      </p:sp>
      <p:sp>
        <p:nvSpPr>
          <p:cNvPr id="3" name="Shape 1"/>
          <p:cNvSpPr/>
          <p:nvPr/>
        </p:nvSpPr>
        <p:spPr>
          <a:xfrm>
            <a:off x="1244600" y="2413000"/>
            <a:ext cx="21894800" cy="254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5" name="Text 3"/>
          <p:cNvSpPr/>
          <p:nvPr/>
        </p:nvSpPr>
        <p:spPr>
          <a:xfrm>
            <a:off x="1226820" y="2804174"/>
            <a:ext cx="11389359" cy="1012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IN" sz="3600" dirty="0">
                <a:solidFill>
                  <a:srgbClr val="1A1A1A"/>
                </a:solidFill>
              </a:rPr>
              <a:t>Citizens often face difficulties navigating complex government certificate applications and understanding the required documents. Language and digital-literacy barriers make these services less accessible. Manual document verification can be time-consuming and error-prone, while incomplete or inconsistent applications lead to delays. Citizens also lack a unified way to apply and track applications across different channels. Government departments therefore need a secure, intelligent, multilingual, and citizen-centric platform to simplify and streamline the entire process. Existing processes also involve repetitive data entry and limited real-time guidance. Document and application information may require repeated manual checking. A unified system is needed to improve accessibility, transparency, and overall service efficiency.</a:t>
            </a:r>
          </a:p>
        </p:txBody>
      </p:sp>
      <p:sp>
        <p:nvSpPr>
          <p:cNvPr id="7" name="Text 5"/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/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/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4" name="Shape 12"/>
          <p:cNvSpPr/>
          <p:nvPr/>
        </p:nvSpPr>
        <p:spPr>
          <a:xfrm>
            <a:off x="16014702" y="2854974"/>
            <a:ext cx="6675119" cy="812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/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2DF2EBD-239B-7E97-8B6B-405E0F759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6571F8-1970-411E-EBDA-6AFE89F94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951F1C-4BB0-E7AC-6F69-9D14DDA0A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3959" y="2667000"/>
            <a:ext cx="11133788" cy="9860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B8BC-8ED7-8D3B-3F1A-2D3BC954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3680BE-ECDE-AC88-EF26-48F8D0875FB8}"/>
              </a:ext>
            </a:extLst>
          </p:cNvPr>
          <p:cNvSpPr/>
          <p:nvPr/>
        </p:nvSpPr>
        <p:spPr>
          <a:xfrm>
            <a:off x="492760" y="706113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5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60C045-E415-99A4-6A83-959AB482C815}"/>
              </a:ext>
            </a:extLst>
          </p:cNvPr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730"/>
              <a:t>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1F86E2-8882-F37D-FF6A-657A125B3BC2}"/>
              </a:ext>
            </a:extLst>
          </p:cNvPr>
          <p:cNvSpPr/>
          <p:nvPr/>
        </p:nvSpPr>
        <p:spPr>
          <a:xfrm>
            <a:off x="1226820" y="2804174"/>
            <a:ext cx="12851130" cy="1012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endParaRPr lang="en-US" sz="2930">
              <a:solidFill>
                <a:srgbClr val="1A1A1A">
                  <a:lumMod val="95000"/>
                </a:srgb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C83BB1-0D4A-5644-BED7-1DC627BEC965}"/>
              </a:ext>
            </a:extLst>
          </p:cNvPr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915885-4E8B-788C-8DEB-A50F1A302B59}"/>
              </a:ext>
            </a:extLst>
          </p:cNvPr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BE4DB8-1E7C-FD53-64C6-4F76CC64089E}"/>
              </a:ext>
            </a:extLst>
          </p:cNvPr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C2D0FD-1ED9-EBA8-45E5-C371055B5F50}"/>
              </a:ext>
            </a:extLst>
          </p:cNvPr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0BDA7B-D4D6-9405-B52B-8E0B09D300E1}"/>
              </a:ext>
            </a:extLst>
          </p:cNvPr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28E8F4-69DD-0357-23A5-823F11B56AFB}"/>
              </a:ext>
            </a:extLst>
          </p:cNvPr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255774-B518-87E9-462B-D08F65FC52AB}"/>
              </a:ext>
            </a:extLst>
          </p:cNvPr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7C9951-D18D-90A5-3FE4-9843CC79FAA2}"/>
              </a:ext>
            </a:extLst>
          </p:cNvPr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F0A3442-7FE3-5A77-9AB0-B9DBA0E53CAC}"/>
              </a:ext>
            </a:extLst>
          </p:cNvPr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E11E73-CAC7-DBEA-6185-F6A98A9DE7F2}"/>
              </a:ext>
            </a:extLst>
          </p:cNvPr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DC82F5-FAD0-9AE0-3AD9-A6BB808CB6A5}"/>
              </a:ext>
            </a:extLst>
          </p:cNvPr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4D96C1-FCB9-768E-97C9-AC598115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023303-5BC2-8EFF-60AB-6F5D1FB80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054DF7-DF0A-A779-1367-2225F03FF4EB}"/>
              </a:ext>
            </a:extLst>
          </p:cNvPr>
          <p:cNvSpPr txBox="1"/>
          <p:nvPr/>
        </p:nvSpPr>
        <p:spPr>
          <a:xfrm>
            <a:off x="223520" y="127000"/>
            <a:ext cx="13854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00" b="1" kern="0" spc="-12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Architecture</a:t>
            </a:r>
            <a:endParaRPr lang="en-IN" sz="5600" b="1" kern="0" spc="-120">
              <a:solidFill>
                <a:srgbClr val="1A1A1A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C11C3C-F172-FDC3-0154-F59306E22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2391"/>
            <a:ext cx="24317022" cy="1229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9034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D984E-9357-4D57-0955-AD1D6580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49437F-0BAD-42AF-E950-7ED62A99E6CB}"/>
              </a:ext>
            </a:extLst>
          </p:cNvPr>
          <p:cNvSpPr/>
          <p:nvPr/>
        </p:nvSpPr>
        <p:spPr>
          <a:xfrm>
            <a:off x="1244600" y="1295400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5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877832-0B88-3E98-5360-57FA03E39529}"/>
              </a:ext>
            </a:extLst>
          </p:cNvPr>
          <p:cNvSpPr/>
          <p:nvPr/>
        </p:nvSpPr>
        <p:spPr>
          <a:xfrm>
            <a:off x="1244600" y="2413000"/>
            <a:ext cx="21894800" cy="254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CA3668-1E3D-98D5-1266-D7475BEE0854}"/>
              </a:ext>
            </a:extLst>
          </p:cNvPr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730"/>
              <a:t> 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157A0B-4D76-D993-6C78-F735828638C4}"/>
              </a:ext>
            </a:extLst>
          </p:cNvPr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919DF6-2A43-9E95-6123-66771B77C774}"/>
              </a:ext>
            </a:extLst>
          </p:cNvPr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DAC370-7CF5-0923-C9A9-782B2A74FD32}"/>
              </a:ext>
            </a:extLst>
          </p:cNvPr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D2BDB8-6325-AAD7-894A-17646B580436}"/>
              </a:ext>
            </a:extLst>
          </p:cNvPr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F8CE266-E552-D347-C070-71BBBBBD6693}"/>
              </a:ext>
            </a:extLst>
          </p:cNvPr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157F4E-DCB8-9D5B-7597-AA73CF8725B0}"/>
              </a:ext>
            </a:extLst>
          </p:cNvPr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10A2A47-1893-B99C-08A9-F040299FB815}"/>
              </a:ext>
            </a:extLst>
          </p:cNvPr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3678C24-16F1-10D3-6706-79B4D1E269A0}"/>
              </a:ext>
            </a:extLst>
          </p:cNvPr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2B6DF79-C6CB-E2D9-0294-4EB3DF5AC48F}"/>
              </a:ext>
            </a:extLst>
          </p:cNvPr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949C7F0-FCCF-ADBC-6C3A-D2F1FA11D100}"/>
              </a:ext>
            </a:extLst>
          </p:cNvPr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CF277DD-1897-6102-12A0-264E721F4034}"/>
              </a:ext>
            </a:extLst>
          </p:cNvPr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036DB90-21EB-A9C4-CFE8-06D3FD3FE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44CF63-5F83-24D0-0C05-2C698E26D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C9DC93-F9E5-F771-6581-B2DEBAE4C61B}"/>
              </a:ext>
            </a:extLst>
          </p:cNvPr>
          <p:cNvSpPr txBox="1"/>
          <p:nvPr/>
        </p:nvSpPr>
        <p:spPr>
          <a:xfrm>
            <a:off x="223520" y="127000"/>
            <a:ext cx="21749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DIAGRAM</a:t>
            </a:r>
            <a:endParaRPr lang="en-US" sz="5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10C82-1AD9-7907-3764-AF1E04F021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14"/>
          <a:stretch>
            <a:fillRect/>
          </a:stretch>
        </p:blipFill>
        <p:spPr>
          <a:xfrm>
            <a:off x="2411095" y="1214120"/>
            <a:ext cx="20320000" cy="1134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3161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B8BC-8ED7-8D3B-3F1A-2D3BC954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3680BE-ECDE-AC88-EF26-48F8D0875FB8}"/>
              </a:ext>
            </a:extLst>
          </p:cNvPr>
          <p:cNvSpPr/>
          <p:nvPr/>
        </p:nvSpPr>
        <p:spPr>
          <a:xfrm>
            <a:off x="492760" y="706113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5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60C045-E415-99A4-6A83-959AB482C815}"/>
              </a:ext>
            </a:extLst>
          </p:cNvPr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730"/>
              <a:t>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1F86E2-8882-F37D-FF6A-657A125B3BC2}"/>
              </a:ext>
            </a:extLst>
          </p:cNvPr>
          <p:cNvSpPr/>
          <p:nvPr/>
        </p:nvSpPr>
        <p:spPr>
          <a:xfrm>
            <a:off x="1226820" y="2804174"/>
            <a:ext cx="12851130" cy="1012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endParaRPr lang="en-US" sz="2930">
              <a:solidFill>
                <a:srgbClr val="1A1A1A">
                  <a:lumMod val="95000"/>
                </a:srgb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C83BB1-0D4A-5644-BED7-1DC627BEC965}"/>
              </a:ext>
            </a:extLst>
          </p:cNvPr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915885-4E8B-788C-8DEB-A50F1A302B59}"/>
              </a:ext>
            </a:extLst>
          </p:cNvPr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BE4DB8-1E7C-FD53-64C6-4F76CC64089E}"/>
              </a:ext>
            </a:extLst>
          </p:cNvPr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C2D0FD-1ED9-EBA8-45E5-C371055B5F50}"/>
              </a:ext>
            </a:extLst>
          </p:cNvPr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0BDA7B-D4D6-9405-B52B-8E0B09D300E1}"/>
              </a:ext>
            </a:extLst>
          </p:cNvPr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28E8F4-69DD-0357-23A5-823F11B56AFB}"/>
              </a:ext>
            </a:extLst>
          </p:cNvPr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255774-B518-87E9-462B-D08F65FC52AB}"/>
              </a:ext>
            </a:extLst>
          </p:cNvPr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7C9951-D18D-90A5-3FE4-9843CC79FAA2}"/>
              </a:ext>
            </a:extLst>
          </p:cNvPr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F0A3442-7FE3-5A77-9AB0-B9DBA0E53CAC}"/>
              </a:ext>
            </a:extLst>
          </p:cNvPr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E11E73-CAC7-DBEA-6185-F6A98A9DE7F2}"/>
              </a:ext>
            </a:extLst>
          </p:cNvPr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DC82F5-FAD0-9AE0-3AD9-A6BB808CB6A5}"/>
              </a:ext>
            </a:extLst>
          </p:cNvPr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4D96C1-FCB9-768E-97C9-AC598115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023303-5BC2-8EFF-60AB-6F5D1FB80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C11C3C-F172-FDC3-0154-F59306E22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795" y="815941"/>
            <a:ext cx="18029010" cy="1201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903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B8BC-8ED7-8D3B-3F1A-2D3BC954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3680BE-ECDE-AC88-EF26-48F8D0875FB8}"/>
              </a:ext>
            </a:extLst>
          </p:cNvPr>
          <p:cNvSpPr/>
          <p:nvPr/>
        </p:nvSpPr>
        <p:spPr>
          <a:xfrm>
            <a:off x="492760" y="706113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5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60C045-E415-99A4-6A83-959AB482C815}"/>
              </a:ext>
            </a:extLst>
          </p:cNvPr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730"/>
              <a:t>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1F86E2-8882-F37D-FF6A-657A125B3BC2}"/>
              </a:ext>
            </a:extLst>
          </p:cNvPr>
          <p:cNvSpPr/>
          <p:nvPr/>
        </p:nvSpPr>
        <p:spPr>
          <a:xfrm>
            <a:off x="1226820" y="2804174"/>
            <a:ext cx="12851130" cy="1012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endParaRPr lang="en-US" sz="2930">
              <a:solidFill>
                <a:srgbClr val="1A1A1A">
                  <a:lumMod val="95000"/>
                </a:srgb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C83BB1-0D4A-5644-BED7-1DC627BEC965}"/>
              </a:ext>
            </a:extLst>
          </p:cNvPr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915885-4E8B-788C-8DEB-A50F1A302B59}"/>
              </a:ext>
            </a:extLst>
          </p:cNvPr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BE4DB8-1E7C-FD53-64C6-4F76CC64089E}"/>
              </a:ext>
            </a:extLst>
          </p:cNvPr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C2D0FD-1ED9-EBA8-45E5-C371055B5F50}"/>
              </a:ext>
            </a:extLst>
          </p:cNvPr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0BDA7B-D4D6-9405-B52B-8E0B09D300E1}"/>
              </a:ext>
            </a:extLst>
          </p:cNvPr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28E8F4-69DD-0357-23A5-823F11B56AFB}"/>
              </a:ext>
            </a:extLst>
          </p:cNvPr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255774-B518-87E9-462B-D08F65FC52AB}"/>
              </a:ext>
            </a:extLst>
          </p:cNvPr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7C9951-D18D-90A5-3FE4-9843CC79FAA2}"/>
              </a:ext>
            </a:extLst>
          </p:cNvPr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F0A3442-7FE3-5A77-9AB0-B9DBA0E53CAC}"/>
              </a:ext>
            </a:extLst>
          </p:cNvPr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E11E73-CAC7-DBEA-6185-F6A98A9DE7F2}"/>
              </a:ext>
            </a:extLst>
          </p:cNvPr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DC82F5-FAD0-9AE0-3AD9-A6BB808CB6A5}"/>
              </a:ext>
            </a:extLst>
          </p:cNvPr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4D96C1-FCB9-768E-97C9-AC598115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023303-5BC2-8EFF-60AB-6F5D1FB80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C11C3C-F172-FDC3-0154-F59306E22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295" y="391153"/>
            <a:ext cx="18862085" cy="129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903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FF0F3-4891-D922-8AF4-1A3149E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39FAEB-D96D-039E-AFF2-26A43D022185}"/>
              </a:ext>
            </a:extLst>
          </p:cNvPr>
          <p:cNvSpPr/>
          <p:nvPr/>
        </p:nvSpPr>
        <p:spPr>
          <a:xfrm>
            <a:off x="1244600" y="1295400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>
                <a:solidFill>
                  <a:srgbClr val="1A1A1A"/>
                </a:solidFill>
                <a:latin typeface="Liter" pitchFamily="34" charset="0"/>
              </a:rPr>
              <a:t>Conclusion</a:t>
            </a:r>
            <a:endParaRPr lang="en-US" sz="5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090644-26D4-1045-41C9-864D508DAF5A}"/>
              </a:ext>
            </a:extLst>
          </p:cNvPr>
          <p:cNvSpPr/>
          <p:nvPr/>
        </p:nvSpPr>
        <p:spPr>
          <a:xfrm>
            <a:off x="1244600" y="2413000"/>
            <a:ext cx="21894800" cy="254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222641-21C0-FD71-3515-AB30C1179587}"/>
              </a:ext>
            </a:extLst>
          </p:cNvPr>
          <p:cNvSpPr/>
          <p:nvPr/>
        </p:nvSpPr>
        <p:spPr>
          <a:xfrm>
            <a:off x="1244600" y="292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730"/>
              <a:t>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8AA0A9-5A22-F606-6880-76DCB9D5FFC9}"/>
              </a:ext>
            </a:extLst>
          </p:cNvPr>
          <p:cNvSpPr/>
          <p:nvPr/>
        </p:nvSpPr>
        <p:spPr>
          <a:xfrm>
            <a:off x="1226820" y="4368800"/>
            <a:ext cx="19956780" cy="856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endParaRPr lang="en-US" sz="2930">
              <a:solidFill>
                <a:srgbClr val="1A1A1A">
                  <a:lumMod val="95000"/>
                </a:srgb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47043-56A2-A3AE-E6EC-9B82A7B17A23}"/>
              </a:ext>
            </a:extLst>
          </p:cNvPr>
          <p:cNvSpPr/>
          <p:nvPr/>
        </p:nvSpPr>
        <p:spPr>
          <a:xfrm>
            <a:off x="1651000" y="8382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AC3D19-45D9-2BFD-1D00-73BB92165C66}"/>
              </a:ext>
            </a:extLst>
          </p:cNvPr>
          <p:cNvSpPr/>
          <p:nvPr/>
        </p:nvSpPr>
        <p:spPr>
          <a:xfrm>
            <a:off x="1651000" y="90805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9B1BF3-B46D-D3A8-EB92-4E4A8428A90E}"/>
              </a:ext>
            </a:extLst>
          </p:cNvPr>
          <p:cNvSpPr/>
          <p:nvPr/>
        </p:nvSpPr>
        <p:spPr>
          <a:xfrm>
            <a:off x="1651000" y="9779000"/>
            <a:ext cx="952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29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A36E02B-74E3-9CBF-2DA4-896C424E1721}"/>
              </a:ext>
            </a:extLst>
          </p:cNvPr>
          <p:cNvSpPr/>
          <p:nvPr/>
        </p:nvSpPr>
        <p:spPr>
          <a:xfrm>
            <a:off x="12700000" y="3302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2C5E2AB-EABB-627A-E730-A90F8E7E20CF}"/>
              </a:ext>
            </a:extLst>
          </p:cNvPr>
          <p:cNvSpPr/>
          <p:nvPr/>
        </p:nvSpPr>
        <p:spPr>
          <a:xfrm>
            <a:off x="12700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7A86C36-7BA2-3D5E-69E7-5B2F55545A7F}"/>
              </a:ext>
            </a:extLst>
          </p:cNvPr>
          <p:cNvSpPr/>
          <p:nvPr/>
        </p:nvSpPr>
        <p:spPr>
          <a:xfrm>
            <a:off x="17526000" y="4318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26152D2-C76C-5A1E-E493-A19C586E2FB2}"/>
              </a:ext>
            </a:extLst>
          </p:cNvPr>
          <p:cNvSpPr/>
          <p:nvPr/>
        </p:nvSpPr>
        <p:spPr>
          <a:xfrm>
            <a:off x="12700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144D97-DE0D-6669-6614-96D3BE9C351C}"/>
              </a:ext>
            </a:extLst>
          </p:cNvPr>
          <p:cNvSpPr/>
          <p:nvPr/>
        </p:nvSpPr>
        <p:spPr>
          <a:xfrm>
            <a:off x="17526000" y="6350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5E19DD0-08B1-FD72-3303-A5670CC73F69}"/>
              </a:ext>
            </a:extLst>
          </p:cNvPr>
          <p:cNvSpPr/>
          <p:nvPr/>
        </p:nvSpPr>
        <p:spPr>
          <a:xfrm>
            <a:off x="14986000" y="5334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393A351-45E7-F993-4837-7B26CCC67BB1}"/>
              </a:ext>
            </a:extLst>
          </p:cNvPr>
          <p:cNvSpPr/>
          <p:nvPr/>
        </p:nvSpPr>
        <p:spPr>
          <a:xfrm>
            <a:off x="17907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EF67779-29E8-A298-9FD1-EDEDBD8520BC}"/>
              </a:ext>
            </a:extLst>
          </p:cNvPr>
          <p:cNvSpPr/>
          <p:nvPr/>
        </p:nvSpPr>
        <p:spPr>
          <a:xfrm>
            <a:off x="19812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84C910A-A661-1421-C1AC-79472CE2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4275"/>
            <a:ext cx="3784600" cy="1521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6A2FE8C-A4E2-EBFE-B1B7-8D519D1E9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12194275"/>
            <a:ext cx="1602074" cy="147883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9E1BB27-F012-0643-AD47-4C935A640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64689"/>
            <a:ext cx="208280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RevGOV simplifies complex government certificate services through a citizen-centric digital experience.</a:t>
            </a:r>
          </a:p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It combines multilingual Conversational AI, OCR, RAG, and intelligent document processing.</a:t>
            </a:r>
          </a:p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Deterministic rules improve validation, eligibility checking, and application readiness.</a:t>
            </a:r>
          </a:p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Web, WhatsApp, and IVR provide a unified omnichannel application journey.</a:t>
            </a:r>
          </a:p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Human-in-the-loop verification ensures accountability, trust, and reliable decision-making.</a:t>
            </a:r>
          </a:p>
          <a:p>
            <a:pPr marL="571500" indent="-571500">
              <a:spcBef>
                <a:spcPts val="1400"/>
              </a:spcBef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</a:rPr>
              <a:t>Overall, RevGOV enables simpler, secure, transparent, and more efficient revenue services.</a:t>
            </a:r>
          </a:p>
        </p:txBody>
      </p:sp>
    </p:spTree>
    <p:extLst>
      <p:ext uri="{BB962C8B-B14F-4D97-AF65-F5344CB8AC3E}">
        <p14:creationId xmlns:p14="http://schemas.microsoft.com/office/powerpoint/2010/main" val="135466929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487400" y="4445000"/>
            <a:ext cx="889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</a:t>
            </a:r>
            <a:r>
              <a:rPr lang="en-US" sz="9870"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9870" b="1" kern="0" spc="-120">
                <a:solidFill>
                  <a:srgbClr val="0B5ED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</a:t>
            </a:r>
            <a:endParaRPr lang="en-US" sz="9870"/>
          </a:p>
        </p:txBody>
      </p:sp>
      <p:sp>
        <p:nvSpPr>
          <p:cNvPr id="5" name="Text 2"/>
          <p:cNvSpPr/>
          <p:nvPr/>
        </p:nvSpPr>
        <p:spPr>
          <a:xfrm>
            <a:off x="13487400" y="70358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3730"/>
          </a:p>
        </p:txBody>
      </p:sp>
      <p:sp>
        <p:nvSpPr>
          <p:cNvPr id="6" name="Shape 3"/>
          <p:cNvSpPr/>
          <p:nvPr/>
        </p:nvSpPr>
        <p:spPr>
          <a:xfrm>
            <a:off x="18038000" y="6096000"/>
            <a:ext cx="2390000" cy="50800"/>
          </a:xfrm>
          <a:prstGeom prst="rect">
            <a:avLst/>
          </a:prstGeom>
          <a:solidFill>
            <a:srgbClr val="0B5ED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97DF4-9107-37C8-40A0-67A4550B0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25"/>
            <a:ext cx="3784600" cy="1521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1D2B0-1239-C6C7-BEB6-CAF8726AB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351" y="21325"/>
            <a:ext cx="1602074" cy="1478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243</Words>
  <Application>Microsoft Office PowerPoint</Application>
  <PresentationFormat>Custom</PresentationFormat>
  <Paragraphs>29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Canva Sans</vt:lpstr>
      <vt:lpstr>Liter</vt:lpstr>
      <vt:lpstr>Canva Sans Bold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Mendix Domain Model - Complete Training</dc:title>
  <dc:subject>Mendix Domain Model - Complete Training</dc:subject>
  <dc:creator>Kimi</dc:creator>
  <cp:lastModifiedBy>Kunal Wandhare</cp:lastModifiedBy>
  <cp:revision>27</cp:revision>
  <dcterms:created xsi:type="dcterms:W3CDTF">2026-06-02T18:59:29Z</dcterms:created>
  <dcterms:modified xsi:type="dcterms:W3CDTF">2026-08-26T09:34:33Z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{"Label":"Mendix Domain Model - Complete Training","ContentProducer":"001191110108MACG2KBH8F10000","ProduceID":"19e89199-7ae2-8fe8-8000-000088e7af96","ReservedCode1":"","ContentPropagator":"001191110108MACG2KBH8F20000","PropagateID":"19e89199-7ae2-8fe8-8000-000088e7af96","ReservedCode2":""}</vt:lpwstr>
  </property>
</Properties>
</file>